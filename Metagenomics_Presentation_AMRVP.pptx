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328E8D-36E5-42A1-A61E-60E8B2184C1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6CBE258-835F-43B8-8CE3-B5D658C38B3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ONT stands for </a:t>
          </a:r>
          <a:r>
            <a:rPr lang="en-US" sz="1600" b="1" dirty="0"/>
            <a:t>O</a:t>
          </a:r>
          <a:r>
            <a:rPr lang="en-US" sz="1600" dirty="0"/>
            <a:t>xford </a:t>
          </a:r>
          <a:r>
            <a:rPr lang="en-US" sz="1600" b="1" dirty="0"/>
            <a:t>N</a:t>
          </a:r>
          <a:r>
            <a:rPr lang="en-US" sz="1600" dirty="0"/>
            <a:t>anopore </a:t>
          </a:r>
          <a:r>
            <a:rPr lang="en-US" sz="1600" b="1" dirty="0"/>
            <a:t>T</a:t>
          </a:r>
          <a:r>
            <a:rPr lang="en-US" sz="1600" dirty="0"/>
            <a:t>echnologies</a:t>
          </a:r>
        </a:p>
      </dgm:t>
    </dgm:pt>
    <dgm:pt modelId="{D78DDED3-42EC-42C8-94C3-B1A2CDAD8106}" type="parTrans" cxnId="{600B75AC-9DBC-4D93-B6BA-7A9F485B8952}">
      <dgm:prSet/>
      <dgm:spPr/>
      <dgm:t>
        <a:bodyPr/>
        <a:lstStyle/>
        <a:p>
          <a:endParaRPr lang="en-US"/>
        </a:p>
      </dgm:t>
    </dgm:pt>
    <dgm:pt modelId="{076F3F0E-CC36-44A5-B0C3-ECD09E58C124}" type="sibTrans" cxnId="{600B75AC-9DBC-4D93-B6BA-7A9F485B8952}">
      <dgm:prSet/>
      <dgm:spPr/>
      <dgm:t>
        <a:bodyPr/>
        <a:lstStyle/>
        <a:p>
          <a:endParaRPr lang="en-US"/>
        </a:p>
      </dgm:t>
    </dgm:pt>
    <dgm:pt modelId="{9A05F75D-96B6-47C6-A26C-9AE22FDF231B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ONT sequencers (such as the </a:t>
          </a:r>
          <a:r>
            <a:rPr lang="en-US" sz="1600" dirty="0" err="1"/>
            <a:t>MinION</a:t>
          </a:r>
          <a:r>
            <a:rPr lang="en-US" sz="1600" dirty="0"/>
            <a:t> MkD1) are not limited by a specific length: </a:t>
          </a:r>
          <a:r>
            <a:rPr lang="en-US" sz="1600" b="1" u="sng" dirty="0"/>
            <a:t>generate long-reads</a:t>
          </a:r>
          <a:r>
            <a:rPr lang="en-US" sz="1600" dirty="0"/>
            <a:t>, but can also do </a:t>
          </a:r>
          <a:r>
            <a:rPr lang="en-US" sz="1600" b="1" u="sng" dirty="0"/>
            <a:t>short</a:t>
          </a:r>
          <a:r>
            <a:rPr lang="en-US" sz="1600" dirty="0"/>
            <a:t>.</a:t>
          </a:r>
        </a:p>
      </dgm:t>
    </dgm:pt>
    <dgm:pt modelId="{2B850FFC-6F15-4843-AE56-DE4965ECB26A}" type="parTrans" cxnId="{36E7FC01-2970-4A28-B247-BE3F0C6C25D7}">
      <dgm:prSet/>
      <dgm:spPr/>
      <dgm:t>
        <a:bodyPr/>
        <a:lstStyle/>
        <a:p>
          <a:endParaRPr lang="en-US"/>
        </a:p>
      </dgm:t>
    </dgm:pt>
    <dgm:pt modelId="{76329645-939B-45EB-A9D6-D2385BDBB685}" type="sibTrans" cxnId="{36E7FC01-2970-4A28-B247-BE3F0C6C25D7}">
      <dgm:prSet/>
      <dgm:spPr/>
      <dgm:t>
        <a:bodyPr/>
        <a:lstStyle/>
        <a:p>
          <a:endParaRPr lang="en-US"/>
        </a:p>
      </dgm:t>
    </dgm:pt>
    <dgm:pt modelId="{34559C9D-1FDD-4DE2-964E-D83DFAF8AECF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dirty="0"/>
            <a:t>Pipelines that process  ONT reads are often referred to as </a:t>
          </a:r>
          <a:r>
            <a:rPr lang="en-US" sz="1600" b="1" u="sng" dirty="0"/>
            <a:t>long-read pipelines</a:t>
          </a:r>
          <a:r>
            <a:rPr lang="en-US" sz="1600" dirty="0"/>
            <a:t>: these can be used to process other long-read datasets</a:t>
          </a:r>
        </a:p>
      </dgm:t>
    </dgm:pt>
    <dgm:pt modelId="{AFE85B3F-7582-414F-BB76-FF8321A27DCF}" type="parTrans" cxnId="{E9206E84-14CA-4AC0-8E3F-FC6A4E2F2AC3}">
      <dgm:prSet/>
      <dgm:spPr/>
      <dgm:t>
        <a:bodyPr/>
        <a:lstStyle/>
        <a:p>
          <a:endParaRPr lang="en-US"/>
        </a:p>
      </dgm:t>
    </dgm:pt>
    <dgm:pt modelId="{2454237D-64C8-4A13-AD29-E5B814D26FDC}" type="sibTrans" cxnId="{E9206E84-14CA-4AC0-8E3F-FC6A4E2F2AC3}">
      <dgm:prSet/>
      <dgm:spPr/>
      <dgm:t>
        <a:bodyPr/>
        <a:lstStyle/>
        <a:p>
          <a:endParaRPr lang="en-US"/>
        </a:p>
      </dgm:t>
    </dgm:pt>
    <dgm:pt modelId="{D71BB2F5-FEBD-4041-AB61-93DF7C5BE633}" type="pres">
      <dgm:prSet presAssocID="{73328E8D-36E5-42A1-A61E-60E8B2184C10}" presName="root" presStyleCnt="0">
        <dgm:presLayoutVars>
          <dgm:dir/>
          <dgm:resizeHandles val="exact"/>
        </dgm:presLayoutVars>
      </dgm:prSet>
      <dgm:spPr/>
    </dgm:pt>
    <dgm:pt modelId="{A701E5AE-C78E-42AD-8DB6-4352F65306C2}" type="pres">
      <dgm:prSet presAssocID="{46CBE258-835F-43B8-8CE3-B5D658C38B3E}" presName="compNode" presStyleCnt="0"/>
      <dgm:spPr/>
    </dgm:pt>
    <dgm:pt modelId="{D42F57BF-2766-404D-98C4-332D43B7175C}" type="pres">
      <dgm:prSet presAssocID="{46CBE258-835F-43B8-8CE3-B5D658C38B3E}" presName="iconBgRect" presStyleLbl="bgShp" presStyleIdx="0" presStyleCnt="3"/>
      <dgm:spPr/>
    </dgm:pt>
    <dgm:pt modelId="{6E14CA45-EBDA-4BE5-ACFF-DF33CC108BA9}" type="pres">
      <dgm:prSet presAssocID="{46CBE258-835F-43B8-8CE3-B5D658C38B3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2F33C61-52A3-43A3-8D13-BEA3DFEB3EFC}" type="pres">
      <dgm:prSet presAssocID="{46CBE258-835F-43B8-8CE3-B5D658C38B3E}" presName="spaceRect" presStyleCnt="0"/>
      <dgm:spPr/>
    </dgm:pt>
    <dgm:pt modelId="{367DAED2-365D-45BF-A02E-E63903C66186}" type="pres">
      <dgm:prSet presAssocID="{46CBE258-835F-43B8-8CE3-B5D658C38B3E}" presName="textRect" presStyleLbl="revTx" presStyleIdx="0" presStyleCnt="3">
        <dgm:presLayoutVars>
          <dgm:chMax val="1"/>
          <dgm:chPref val="1"/>
        </dgm:presLayoutVars>
      </dgm:prSet>
      <dgm:spPr/>
    </dgm:pt>
    <dgm:pt modelId="{884F4A4C-9920-41B5-8D8C-CABAFECDD991}" type="pres">
      <dgm:prSet presAssocID="{076F3F0E-CC36-44A5-B0C3-ECD09E58C124}" presName="sibTrans" presStyleCnt="0"/>
      <dgm:spPr/>
    </dgm:pt>
    <dgm:pt modelId="{DB5B3670-6994-4319-A068-B9FFFA9C8EF8}" type="pres">
      <dgm:prSet presAssocID="{9A05F75D-96B6-47C6-A26C-9AE22FDF231B}" presName="compNode" presStyleCnt="0"/>
      <dgm:spPr/>
    </dgm:pt>
    <dgm:pt modelId="{91D62667-E72A-4848-8BD1-887998D1B79A}" type="pres">
      <dgm:prSet presAssocID="{9A05F75D-96B6-47C6-A26C-9AE22FDF231B}" presName="iconBgRect" presStyleLbl="bgShp" presStyleIdx="1" presStyleCnt="3"/>
      <dgm:spPr/>
    </dgm:pt>
    <dgm:pt modelId="{334C91E0-3912-4EFE-9E6A-91089EC84131}" type="pres">
      <dgm:prSet presAssocID="{9A05F75D-96B6-47C6-A26C-9AE22FDF231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AAADCDDC-059B-402E-8350-EDCD9F83C43F}" type="pres">
      <dgm:prSet presAssocID="{9A05F75D-96B6-47C6-A26C-9AE22FDF231B}" presName="spaceRect" presStyleCnt="0"/>
      <dgm:spPr/>
    </dgm:pt>
    <dgm:pt modelId="{1BAB0DA8-3577-4A8F-AE07-2FDEDD0AC889}" type="pres">
      <dgm:prSet presAssocID="{9A05F75D-96B6-47C6-A26C-9AE22FDF231B}" presName="textRect" presStyleLbl="revTx" presStyleIdx="1" presStyleCnt="3">
        <dgm:presLayoutVars>
          <dgm:chMax val="1"/>
          <dgm:chPref val="1"/>
        </dgm:presLayoutVars>
      </dgm:prSet>
      <dgm:spPr/>
    </dgm:pt>
    <dgm:pt modelId="{9057ACFC-2C0B-4537-8A06-4082E39BF95B}" type="pres">
      <dgm:prSet presAssocID="{76329645-939B-45EB-A9D6-D2385BDBB685}" presName="sibTrans" presStyleCnt="0"/>
      <dgm:spPr/>
    </dgm:pt>
    <dgm:pt modelId="{0D320889-EC2A-4BA6-A188-2C06CF23F052}" type="pres">
      <dgm:prSet presAssocID="{34559C9D-1FDD-4DE2-964E-D83DFAF8AECF}" presName="compNode" presStyleCnt="0"/>
      <dgm:spPr/>
    </dgm:pt>
    <dgm:pt modelId="{D88D95B7-ACF0-4ACB-8380-5EF872FE7943}" type="pres">
      <dgm:prSet presAssocID="{34559C9D-1FDD-4DE2-964E-D83DFAF8AECF}" presName="iconBgRect" presStyleLbl="bgShp" presStyleIdx="2" presStyleCnt="3"/>
      <dgm:spPr/>
    </dgm:pt>
    <dgm:pt modelId="{C311D19D-8587-4E14-8FF6-1B16732D6225}" type="pres">
      <dgm:prSet presAssocID="{34559C9D-1FDD-4DE2-964E-D83DFAF8AEC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149DCB1-A4BE-4196-89CB-84297D6E902F}" type="pres">
      <dgm:prSet presAssocID="{34559C9D-1FDD-4DE2-964E-D83DFAF8AECF}" presName="spaceRect" presStyleCnt="0"/>
      <dgm:spPr/>
    </dgm:pt>
    <dgm:pt modelId="{1C2B4FEE-4966-46E9-AB3C-0075D80C51C9}" type="pres">
      <dgm:prSet presAssocID="{34559C9D-1FDD-4DE2-964E-D83DFAF8AEC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6E7FC01-2970-4A28-B247-BE3F0C6C25D7}" srcId="{73328E8D-36E5-42A1-A61E-60E8B2184C10}" destId="{9A05F75D-96B6-47C6-A26C-9AE22FDF231B}" srcOrd="1" destOrd="0" parTransId="{2B850FFC-6F15-4843-AE56-DE4965ECB26A}" sibTransId="{76329645-939B-45EB-A9D6-D2385BDBB685}"/>
    <dgm:cxn modelId="{C580C41C-6B2F-5346-B77A-75DD0CFD4B63}" type="presOf" srcId="{34559C9D-1FDD-4DE2-964E-D83DFAF8AECF}" destId="{1C2B4FEE-4966-46E9-AB3C-0075D80C51C9}" srcOrd="0" destOrd="0" presId="urn:microsoft.com/office/officeart/2018/5/layout/IconCircleLabelList"/>
    <dgm:cxn modelId="{E497F85A-A96F-4516-B749-1F58D13A5AFF}" type="presOf" srcId="{73328E8D-36E5-42A1-A61E-60E8B2184C10}" destId="{D71BB2F5-FEBD-4041-AB61-93DF7C5BE633}" srcOrd="0" destOrd="0" presId="urn:microsoft.com/office/officeart/2018/5/layout/IconCircleLabelList"/>
    <dgm:cxn modelId="{C9819065-09F6-B34B-A735-51DC069A3082}" type="presOf" srcId="{46CBE258-835F-43B8-8CE3-B5D658C38B3E}" destId="{367DAED2-365D-45BF-A02E-E63903C66186}" srcOrd="0" destOrd="0" presId="urn:microsoft.com/office/officeart/2018/5/layout/IconCircleLabelList"/>
    <dgm:cxn modelId="{D1AFCE75-F7E9-2D46-89C1-7FFF6DDAF8EF}" type="presOf" srcId="{9A05F75D-96B6-47C6-A26C-9AE22FDF231B}" destId="{1BAB0DA8-3577-4A8F-AE07-2FDEDD0AC889}" srcOrd="0" destOrd="0" presId="urn:microsoft.com/office/officeart/2018/5/layout/IconCircleLabelList"/>
    <dgm:cxn modelId="{E9206E84-14CA-4AC0-8E3F-FC6A4E2F2AC3}" srcId="{73328E8D-36E5-42A1-A61E-60E8B2184C10}" destId="{34559C9D-1FDD-4DE2-964E-D83DFAF8AECF}" srcOrd="2" destOrd="0" parTransId="{AFE85B3F-7582-414F-BB76-FF8321A27DCF}" sibTransId="{2454237D-64C8-4A13-AD29-E5B814D26FDC}"/>
    <dgm:cxn modelId="{600B75AC-9DBC-4D93-B6BA-7A9F485B8952}" srcId="{73328E8D-36E5-42A1-A61E-60E8B2184C10}" destId="{46CBE258-835F-43B8-8CE3-B5D658C38B3E}" srcOrd="0" destOrd="0" parTransId="{D78DDED3-42EC-42C8-94C3-B1A2CDAD8106}" sibTransId="{076F3F0E-CC36-44A5-B0C3-ECD09E58C124}"/>
    <dgm:cxn modelId="{5911CA86-BEC3-1E4A-B730-E1F4BB4D05FA}" type="presParOf" srcId="{D71BB2F5-FEBD-4041-AB61-93DF7C5BE633}" destId="{A701E5AE-C78E-42AD-8DB6-4352F65306C2}" srcOrd="0" destOrd="0" presId="urn:microsoft.com/office/officeart/2018/5/layout/IconCircleLabelList"/>
    <dgm:cxn modelId="{063E6522-5741-C44C-969D-55CBA78719FD}" type="presParOf" srcId="{A701E5AE-C78E-42AD-8DB6-4352F65306C2}" destId="{D42F57BF-2766-404D-98C4-332D43B7175C}" srcOrd="0" destOrd="0" presId="urn:microsoft.com/office/officeart/2018/5/layout/IconCircleLabelList"/>
    <dgm:cxn modelId="{252498FE-A978-A045-8587-B6CB981D1A01}" type="presParOf" srcId="{A701E5AE-C78E-42AD-8DB6-4352F65306C2}" destId="{6E14CA45-EBDA-4BE5-ACFF-DF33CC108BA9}" srcOrd="1" destOrd="0" presId="urn:microsoft.com/office/officeart/2018/5/layout/IconCircleLabelList"/>
    <dgm:cxn modelId="{84CD15AD-FC45-2D41-BDC3-EC9F52B9B7D2}" type="presParOf" srcId="{A701E5AE-C78E-42AD-8DB6-4352F65306C2}" destId="{02F33C61-52A3-43A3-8D13-BEA3DFEB3EFC}" srcOrd="2" destOrd="0" presId="urn:microsoft.com/office/officeart/2018/5/layout/IconCircleLabelList"/>
    <dgm:cxn modelId="{A26696B8-4369-D442-A0B3-70388404C0DB}" type="presParOf" srcId="{A701E5AE-C78E-42AD-8DB6-4352F65306C2}" destId="{367DAED2-365D-45BF-A02E-E63903C66186}" srcOrd="3" destOrd="0" presId="urn:microsoft.com/office/officeart/2018/5/layout/IconCircleLabelList"/>
    <dgm:cxn modelId="{0117B837-879D-D242-9DC0-FBC32E5F0CAA}" type="presParOf" srcId="{D71BB2F5-FEBD-4041-AB61-93DF7C5BE633}" destId="{884F4A4C-9920-41B5-8D8C-CABAFECDD991}" srcOrd="1" destOrd="0" presId="urn:microsoft.com/office/officeart/2018/5/layout/IconCircleLabelList"/>
    <dgm:cxn modelId="{05C4AD1B-0118-4941-975D-51EDADDEB26A}" type="presParOf" srcId="{D71BB2F5-FEBD-4041-AB61-93DF7C5BE633}" destId="{DB5B3670-6994-4319-A068-B9FFFA9C8EF8}" srcOrd="2" destOrd="0" presId="urn:microsoft.com/office/officeart/2018/5/layout/IconCircleLabelList"/>
    <dgm:cxn modelId="{D07D237E-C262-344C-B3D8-DF2EA35AE997}" type="presParOf" srcId="{DB5B3670-6994-4319-A068-B9FFFA9C8EF8}" destId="{91D62667-E72A-4848-8BD1-887998D1B79A}" srcOrd="0" destOrd="0" presId="urn:microsoft.com/office/officeart/2018/5/layout/IconCircleLabelList"/>
    <dgm:cxn modelId="{416F5A93-7AFE-DA4F-AB81-8AAECD66A678}" type="presParOf" srcId="{DB5B3670-6994-4319-A068-B9FFFA9C8EF8}" destId="{334C91E0-3912-4EFE-9E6A-91089EC84131}" srcOrd="1" destOrd="0" presId="urn:microsoft.com/office/officeart/2018/5/layout/IconCircleLabelList"/>
    <dgm:cxn modelId="{B13E3F96-EB5B-3A4B-9FFD-86DFAE40EEA2}" type="presParOf" srcId="{DB5B3670-6994-4319-A068-B9FFFA9C8EF8}" destId="{AAADCDDC-059B-402E-8350-EDCD9F83C43F}" srcOrd="2" destOrd="0" presId="urn:microsoft.com/office/officeart/2018/5/layout/IconCircleLabelList"/>
    <dgm:cxn modelId="{024771F6-43E0-8843-B097-D672DF26F54D}" type="presParOf" srcId="{DB5B3670-6994-4319-A068-B9FFFA9C8EF8}" destId="{1BAB0DA8-3577-4A8F-AE07-2FDEDD0AC889}" srcOrd="3" destOrd="0" presId="urn:microsoft.com/office/officeart/2018/5/layout/IconCircleLabelList"/>
    <dgm:cxn modelId="{C9605483-B50C-DC4F-9B69-A4123D24F7D0}" type="presParOf" srcId="{D71BB2F5-FEBD-4041-AB61-93DF7C5BE633}" destId="{9057ACFC-2C0B-4537-8A06-4082E39BF95B}" srcOrd="3" destOrd="0" presId="urn:microsoft.com/office/officeart/2018/5/layout/IconCircleLabelList"/>
    <dgm:cxn modelId="{5012D297-9863-BD47-B0C4-4310FE92D08C}" type="presParOf" srcId="{D71BB2F5-FEBD-4041-AB61-93DF7C5BE633}" destId="{0D320889-EC2A-4BA6-A188-2C06CF23F052}" srcOrd="4" destOrd="0" presId="urn:microsoft.com/office/officeart/2018/5/layout/IconCircleLabelList"/>
    <dgm:cxn modelId="{07FA756E-72DA-214C-B43A-E14AE4622F6A}" type="presParOf" srcId="{0D320889-EC2A-4BA6-A188-2C06CF23F052}" destId="{D88D95B7-ACF0-4ACB-8380-5EF872FE7943}" srcOrd="0" destOrd="0" presId="urn:microsoft.com/office/officeart/2018/5/layout/IconCircleLabelList"/>
    <dgm:cxn modelId="{A9AE040F-9B28-8C44-95DF-3C0D163722D8}" type="presParOf" srcId="{0D320889-EC2A-4BA6-A188-2C06CF23F052}" destId="{C311D19D-8587-4E14-8FF6-1B16732D6225}" srcOrd="1" destOrd="0" presId="urn:microsoft.com/office/officeart/2018/5/layout/IconCircleLabelList"/>
    <dgm:cxn modelId="{A92CB851-8B57-8B46-B1B5-D69938C80349}" type="presParOf" srcId="{0D320889-EC2A-4BA6-A188-2C06CF23F052}" destId="{B149DCB1-A4BE-4196-89CB-84297D6E902F}" srcOrd="2" destOrd="0" presId="urn:microsoft.com/office/officeart/2018/5/layout/IconCircleLabelList"/>
    <dgm:cxn modelId="{FF4DC166-1242-214E-833D-BD14EF9BFBA7}" type="presParOf" srcId="{0D320889-EC2A-4BA6-A188-2C06CF23F052}" destId="{1C2B4FEE-4966-46E9-AB3C-0075D80C51C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9C6908F-6B27-4398-8986-EA9CB8DC686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A07CAA4-A891-4681-AEA5-8C653F892178}">
      <dgm:prSet/>
      <dgm:spPr/>
      <dgm:t>
        <a:bodyPr/>
        <a:lstStyle/>
        <a:p>
          <a:r>
            <a:rPr lang="en-US" b="1" u="sng"/>
            <a:t>Docker</a:t>
          </a:r>
          <a:r>
            <a:rPr lang="en-US"/>
            <a:t> is a platform that allows deployment of packages with applications and everything they need: </a:t>
          </a:r>
          <a:r>
            <a:rPr lang="en-US" b="1" u="sng"/>
            <a:t>containers</a:t>
          </a:r>
          <a:endParaRPr lang="en-US"/>
        </a:p>
      </dgm:t>
    </dgm:pt>
    <dgm:pt modelId="{237CEAF2-E744-4394-8E9F-925C1F0F4E13}" type="parTrans" cxnId="{583EBF25-CB4C-4CE9-9ACF-BCCCC7E07AE8}">
      <dgm:prSet/>
      <dgm:spPr/>
      <dgm:t>
        <a:bodyPr/>
        <a:lstStyle/>
        <a:p>
          <a:endParaRPr lang="en-US"/>
        </a:p>
      </dgm:t>
    </dgm:pt>
    <dgm:pt modelId="{FED2D915-A0B0-4652-85DB-CDCCFF5785C8}" type="sibTrans" cxnId="{583EBF25-CB4C-4CE9-9ACF-BCCCC7E07AE8}">
      <dgm:prSet/>
      <dgm:spPr/>
      <dgm:t>
        <a:bodyPr/>
        <a:lstStyle/>
        <a:p>
          <a:endParaRPr lang="en-US"/>
        </a:p>
      </dgm:t>
    </dgm:pt>
    <dgm:pt modelId="{B221B46D-F4EC-43C1-81F8-19A3B95C76EF}">
      <dgm:prSet/>
      <dgm:spPr/>
      <dgm:t>
        <a:bodyPr/>
        <a:lstStyle/>
        <a:p>
          <a:r>
            <a:rPr lang="en-US" b="1"/>
            <a:t>Docker Desktop </a:t>
          </a:r>
          <a:r>
            <a:rPr lang="en-US"/>
            <a:t>is needed for Windows and Mac to use these containers, by creating a Linux Machine inside your PC. </a:t>
          </a:r>
        </a:p>
      </dgm:t>
    </dgm:pt>
    <dgm:pt modelId="{93488BB8-3B28-44DD-A72F-7CE6B493BDF7}" type="parTrans" cxnId="{97E0F71B-2633-4C50-B97A-14EEA6CD5E3F}">
      <dgm:prSet/>
      <dgm:spPr/>
      <dgm:t>
        <a:bodyPr/>
        <a:lstStyle/>
        <a:p>
          <a:endParaRPr lang="en-US"/>
        </a:p>
      </dgm:t>
    </dgm:pt>
    <dgm:pt modelId="{B6AF2E94-195F-4F55-B2CF-5935CBB1FDB5}" type="sibTrans" cxnId="{97E0F71B-2633-4C50-B97A-14EEA6CD5E3F}">
      <dgm:prSet/>
      <dgm:spPr/>
      <dgm:t>
        <a:bodyPr/>
        <a:lstStyle/>
        <a:p>
          <a:endParaRPr lang="en-US"/>
        </a:p>
      </dgm:t>
    </dgm:pt>
    <dgm:pt modelId="{15515EF3-EB22-40C5-A108-52292323F3FA}">
      <dgm:prSet/>
      <dgm:spPr/>
      <dgm:t>
        <a:bodyPr/>
        <a:lstStyle/>
        <a:p>
          <a:r>
            <a:rPr lang="en-US"/>
            <a:t>It allows access to library of pre-made containers, including many bioinformatics tools.  </a:t>
          </a:r>
        </a:p>
      </dgm:t>
    </dgm:pt>
    <dgm:pt modelId="{7E03D1D4-4A4D-4305-9B85-49BA726A3A23}" type="parTrans" cxnId="{75FC6FA2-F063-48A7-B112-160AD93CC786}">
      <dgm:prSet/>
      <dgm:spPr/>
      <dgm:t>
        <a:bodyPr/>
        <a:lstStyle/>
        <a:p>
          <a:endParaRPr lang="en-US"/>
        </a:p>
      </dgm:t>
    </dgm:pt>
    <dgm:pt modelId="{BBA68E19-EAEC-4458-9508-2B5254CF1567}" type="sibTrans" cxnId="{75FC6FA2-F063-48A7-B112-160AD93CC786}">
      <dgm:prSet/>
      <dgm:spPr/>
      <dgm:t>
        <a:bodyPr/>
        <a:lstStyle/>
        <a:p>
          <a:endParaRPr lang="en-US"/>
        </a:p>
      </dgm:t>
    </dgm:pt>
    <dgm:pt modelId="{6714B1DC-8235-4897-B1C4-EDD0E42EFCC9}" type="pres">
      <dgm:prSet presAssocID="{09C6908F-6B27-4398-8986-EA9CB8DC686E}" presName="root" presStyleCnt="0">
        <dgm:presLayoutVars>
          <dgm:dir/>
          <dgm:resizeHandles val="exact"/>
        </dgm:presLayoutVars>
      </dgm:prSet>
      <dgm:spPr/>
    </dgm:pt>
    <dgm:pt modelId="{10C4BE9F-2CD8-448B-989A-3ECAD3EC4FF2}" type="pres">
      <dgm:prSet presAssocID="{5A07CAA4-A891-4681-AEA5-8C653F892178}" presName="compNode" presStyleCnt="0"/>
      <dgm:spPr/>
    </dgm:pt>
    <dgm:pt modelId="{FD73AE32-A877-4B53-95C5-411AB35CC9C1}" type="pres">
      <dgm:prSet presAssocID="{5A07CAA4-A891-4681-AEA5-8C653F892178}" presName="bgRect" presStyleLbl="bgShp" presStyleIdx="0" presStyleCnt="3"/>
      <dgm:spPr/>
    </dgm:pt>
    <dgm:pt modelId="{0CDDF26D-AC03-4235-A2A3-3A9DCB91D4FC}" type="pres">
      <dgm:prSet presAssocID="{5A07CAA4-A891-4681-AEA5-8C653F89217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C38F6C63-AB26-4850-B097-5D4E6DD109F9}" type="pres">
      <dgm:prSet presAssocID="{5A07CAA4-A891-4681-AEA5-8C653F892178}" presName="spaceRect" presStyleCnt="0"/>
      <dgm:spPr/>
    </dgm:pt>
    <dgm:pt modelId="{D46EA0FD-5D2B-4914-B5E2-2CEEA93C3F0D}" type="pres">
      <dgm:prSet presAssocID="{5A07CAA4-A891-4681-AEA5-8C653F892178}" presName="parTx" presStyleLbl="revTx" presStyleIdx="0" presStyleCnt="3">
        <dgm:presLayoutVars>
          <dgm:chMax val="0"/>
          <dgm:chPref val="0"/>
        </dgm:presLayoutVars>
      </dgm:prSet>
      <dgm:spPr/>
    </dgm:pt>
    <dgm:pt modelId="{36EDD0D4-4C1D-466C-B5F1-10089A4ABD86}" type="pres">
      <dgm:prSet presAssocID="{FED2D915-A0B0-4652-85DB-CDCCFF5785C8}" presName="sibTrans" presStyleCnt="0"/>
      <dgm:spPr/>
    </dgm:pt>
    <dgm:pt modelId="{92E5BA71-5A29-4EA6-BF84-EA933B7CEAA7}" type="pres">
      <dgm:prSet presAssocID="{B221B46D-F4EC-43C1-81F8-19A3B95C76EF}" presName="compNode" presStyleCnt="0"/>
      <dgm:spPr/>
    </dgm:pt>
    <dgm:pt modelId="{13809168-6647-48DE-A8D5-E0536A456449}" type="pres">
      <dgm:prSet presAssocID="{B221B46D-F4EC-43C1-81F8-19A3B95C76EF}" presName="bgRect" presStyleLbl="bgShp" presStyleIdx="1" presStyleCnt="3"/>
      <dgm:spPr/>
    </dgm:pt>
    <dgm:pt modelId="{49B576BB-1E44-4BD7-BBD0-56B1230F3C96}" type="pres">
      <dgm:prSet presAssocID="{B221B46D-F4EC-43C1-81F8-19A3B95C76E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C2C5D426-48A0-434A-811C-14D0035D69F3}" type="pres">
      <dgm:prSet presAssocID="{B221B46D-F4EC-43C1-81F8-19A3B95C76EF}" presName="spaceRect" presStyleCnt="0"/>
      <dgm:spPr/>
    </dgm:pt>
    <dgm:pt modelId="{A85A11F2-AD11-46CD-8866-DDE73C000456}" type="pres">
      <dgm:prSet presAssocID="{B221B46D-F4EC-43C1-81F8-19A3B95C76EF}" presName="parTx" presStyleLbl="revTx" presStyleIdx="1" presStyleCnt="3">
        <dgm:presLayoutVars>
          <dgm:chMax val="0"/>
          <dgm:chPref val="0"/>
        </dgm:presLayoutVars>
      </dgm:prSet>
      <dgm:spPr/>
    </dgm:pt>
    <dgm:pt modelId="{C0B8B4F7-7C91-45A6-A154-EA8DB04B29EB}" type="pres">
      <dgm:prSet presAssocID="{B6AF2E94-195F-4F55-B2CF-5935CBB1FDB5}" presName="sibTrans" presStyleCnt="0"/>
      <dgm:spPr/>
    </dgm:pt>
    <dgm:pt modelId="{65C6901A-92A6-4A37-95A4-FD5D46D4C545}" type="pres">
      <dgm:prSet presAssocID="{15515EF3-EB22-40C5-A108-52292323F3FA}" presName="compNode" presStyleCnt="0"/>
      <dgm:spPr/>
    </dgm:pt>
    <dgm:pt modelId="{74D007AE-5D5B-4FEC-8C3F-F3FA97BF6F84}" type="pres">
      <dgm:prSet presAssocID="{15515EF3-EB22-40C5-A108-52292323F3FA}" presName="bgRect" presStyleLbl="bgShp" presStyleIdx="2" presStyleCnt="3"/>
      <dgm:spPr/>
    </dgm:pt>
    <dgm:pt modelId="{F5E4BA2B-82BE-470F-891D-1D9D3EFCFAAB}" type="pres">
      <dgm:prSet presAssocID="{15515EF3-EB22-40C5-A108-52292323F3F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1A685D4-E124-45F3-81AC-BA653B131935}" type="pres">
      <dgm:prSet presAssocID="{15515EF3-EB22-40C5-A108-52292323F3FA}" presName="spaceRect" presStyleCnt="0"/>
      <dgm:spPr/>
    </dgm:pt>
    <dgm:pt modelId="{7E434B2A-11B6-4AC0-91C3-71462EAF9C4A}" type="pres">
      <dgm:prSet presAssocID="{15515EF3-EB22-40C5-A108-52292323F3F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7E0F71B-2633-4C50-B97A-14EEA6CD5E3F}" srcId="{09C6908F-6B27-4398-8986-EA9CB8DC686E}" destId="{B221B46D-F4EC-43C1-81F8-19A3B95C76EF}" srcOrd="1" destOrd="0" parTransId="{93488BB8-3B28-44DD-A72F-7CE6B493BDF7}" sibTransId="{B6AF2E94-195F-4F55-B2CF-5935CBB1FDB5}"/>
    <dgm:cxn modelId="{583EBF25-CB4C-4CE9-9ACF-BCCCC7E07AE8}" srcId="{09C6908F-6B27-4398-8986-EA9CB8DC686E}" destId="{5A07CAA4-A891-4681-AEA5-8C653F892178}" srcOrd="0" destOrd="0" parTransId="{237CEAF2-E744-4394-8E9F-925C1F0F4E13}" sibTransId="{FED2D915-A0B0-4652-85DB-CDCCFF5785C8}"/>
    <dgm:cxn modelId="{4EBA3A35-B1DE-4DE1-A0D6-1B5540F094CE}" type="presOf" srcId="{15515EF3-EB22-40C5-A108-52292323F3FA}" destId="{7E434B2A-11B6-4AC0-91C3-71462EAF9C4A}" srcOrd="0" destOrd="0" presId="urn:microsoft.com/office/officeart/2018/2/layout/IconVerticalSolidList"/>
    <dgm:cxn modelId="{FF39AD38-0250-43E0-BD22-021F637383B9}" type="presOf" srcId="{5A07CAA4-A891-4681-AEA5-8C653F892178}" destId="{D46EA0FD-5D2B-4914-B5E2-2CEEA93C3F0D}" srcOrd="0" destOrd="0" presId="urn:microsoft.com/office/officeart/2018/2/layout/IconVerticalSolidList"/>
    <dgm:cxn modelId="{B1DC2E8B-CFE2-4DEC-819D-62BD7D415EB3}" type="presOf" srcId="{B221B46D-F4EC-43C1-81F8-19A3B95C76EF}" destId="{A85A11F2-AD11-46CD-8866-DDE73C000456}" srcOrd="0" destOrd="0" presId="urn:microsoft.com/office/officeart/2018/2/layout/IconVerticalSolidList"/>
    <dgm:cxn modelId="{66627194-A344-41AC-8A05-27D249DBB2C9}" type="presOf" srcId="{09C6908F-6B27-4398-8986-EA9CB8DC686E}" destId="{6714B1DC-8235-4897-B1C4-EDD0E42EFCC9}" srcOrd="0" destOrd="0" presId="urn:microsoft.com/office/officeart/2018/2/layout/IconVerticalSolidList"/>
    <dgm:cxn modelId="{75FC6FA2-F063-48A7-B112-160AD93CC786}" srcId="{09C6908F-6B27-4398-8986-EA9CB8DC686E}" destId="{15515EF3-EB22-40C5-A108-52292323F3FA}" srcOrd="2" destOrd="0" parTransId="{7E03D1D4-4A4D-4305-9B85-49BA726A3A23}" sibTransId="{BBA68E19-EAEC-4458-9508-2B5254CF1567}"/>
    <dgm:cxn modelId="{2968B980-EEC4-47CA-A4AE-881B335D5476}" type="presParOf" srcId="{6714B1DC-8235-4897-B1C4-EDD0E42EFCC9}" destId="{10C4BE9F-2CD8-448B-989A-3ECAD3EC4FF2}" srcOrd="0" destOrd="0" presId="urn:microsoft.com/office/officeart/2018/2/layout/IconVerticalSolidList"/>
    <dgm:cxn modelId="{19DAC742-6C45-4EFC-A07C-0C2656578134}" type="presParOf" srcId="{10C4BE9F-2CD8-448B-989A-3ECAD3EC4FF2}" destId="{FD73AE32-A877-4B53-95C5-411AB35CC9C1}" srcOrd="0" destOrd="0" presId="urn:microsoft.com/office/officeart/2018/2/layout/IconVerticalSolidList"/>
    <dgm:cxn modelId="{1A80BB50-33FE-4233-9B54-17E661F804D5}" type="presParOf" srcId="{10C4BE9F-2CD8-448B-989A-3ECAD3EC4FF2}" destId="{0CDDF26D-AC03-4235-A2A3-3A9DCB91D4FC}" srcOrd="1" destOrd="0" presId="urn:microsoft.com/office/officeart/2018/2/layout/IconVerticalSolidList"/>
    <dgm:cxn modelId="{528189C0-A3F9-44D7-B7E0-8FFAC360E53A}" type="presParOf" srcId="{10C4BE9F-2CD8-448B-989A-3ECAD3EC4FF2}" destId="{C38F6C63-AB26-4850-B097-5D4E6DD109F9}" srcOrd="2" destOrd="0" presId="urn:microsoft.com/office/officeart/2018/2/layout/IconVerticalSolidList"/>
    <dgm:cxn modelId="{78AA31E2-A28F-4F4D-9A72-AEC004D676AD}" type="presParOf" srcId="{10C4BE9F-2CD8-448B-989A-3ECAD3EC4FF2}" destId="{D46EA0FD-5D2B-4914-B5E2-2CEEA93C3F0D}" srcOrd="3" destOrd="0" presId="urn:microsoft.com/office/officeart/2018/2/layout/IconVerticalSolidList"/>
    <dgm:cxn modelId="{1488208B-0856-426D-88BC-9295E0301072}" type="presParOf" srcId="{6714B1DC-8235-4897-B1C4-EDD0E42EFCC9}" destId="{36EDD0D4-4C1D-466C-B5F1-10089A4ABD86}" srcOrd="1" destOrd="0" presId="urn:microsoft.com/office/officeart/2018/2/layout/IconVerticalSolidList"/>
    <dgm:cxn modelId="{801BEE40-6C67-4F3C-892F-5E4105A42AFF}" type="presParOf" srcId="{6714B1DC-8235-4897-B1C4-EDD0E42EFCC9}" destId="{92E5BA71-5A29-4EA6-BF84-EA933B7CEAA7}" srcOrd="2" destOrd="0" presId="urn:microsoft.com/office/officeart/2018/2/layout/IconVerticalSolidList"/>
    <dgm:cxn modelId="{F3001AB8-9792-4DB9-95BE-8125CF9BCF72}" type="presParOf" srcId="{92E5BA71-5A29-4EA6-BF84-EA933B7CEAA7}" destId="{13809168-6647-48DE-A8D5-E0536A456449}" srcOrd="0" destOrd="0" presId="urn:microsoft.com/office/officeart/2018/2/layout/IconVerticalSolidList"/>
    <dgm:cxn modelId="{DABF259C-D179-4C68-AB71-ADC587A670A4}" type="presParOf" srcId="{92E5BA71-5A29-4EA6-BF84-EA933B7CEAA7}" destId="{49B576BB-1E44-4BD7-BBD0-56B1230F3C96}" srcOrd="1" destOrd="0" presId="urn:microsoft.com/office/officeart/2018/2/layout/IconVerticalSolidList"/>
    <dgm:cxn modelId="{AEB7A1EF-AF94-466A-9736-0BE796B267B0}" type="presParOf" srcId="{92E5BA71-5A29-4EA6-BF84-EA933B7CEAA7}" destId="{C2C5D426-48A0-434A-811C-14D0035D69F3}" srcOrd="2" destOrd="0" presId="urn:microsoft.com/office/officeart/2018/2/layout/IconVerticalSolidList"/>
    <dgm:cxn modelId="{EF34EEBE-BCCD-4B89-A7DD-27EFA7B6EC34}" type="presParOf" srcId="{92E5BA71-5A29-4EA6-BF84-EA933B7CEAA7}" destId="{A85A11F2-AD11-46CD-8866-DDE73C000456}" srcOrd="3" destOrd="0" presId="urn:microsoft.com/office/officeart/2018/2/layout/IconVerticalSolidList"/>
    <dgm:cxn modelId="{5B6EB5FD-2EEE-40FD-94B2-1B4A64344179}" type="presParOf" srcId="{6714B1DC-8235-4897-B1C4-EDD0E42EFCC9}" destId="{C0B8B4F7-7C91-45A6-A154-EA8DB04B29EB}" srcOrd="3" destOrd="0" presId="urn:microsoft.com/office/officeart/2018/2/layout/IconVerticalSolidList"/>
    <dgm:cxn modelId="{DE49D51B-8DBE-42F6-BD7D-B88D17F49D8A}" type="presParOf" srcId="{6714B1DC-8235-4897-B1C4-EDD0E42EFCC9}" destId="{65C6901A-92A6-4A37-95A4-FD5D46D4C545}" srcOrd="4" destOrd="0" presId="urn:microsoft.com/office/officeart/2018/2/layout/IconVerticalSolidList"/>
    <dgm:cxn modelId="{38E3E2FC-CF31-4CA7-9360-3A2D1A79F569}" type="presParOf" srcId="{65C6901A-92A6-4A37-95A4-FD5D46D4C545}" destId="{74D007AE-5D5B-4FEC-8C3F-F3FA97BF6F84}" srcOrd="0" destOrd="0" presId="urn:microsoft.com/office/officeart/2018/2/layout/IconVerticalSolidList"/>
    <dgm:cxn modelId="{6016481A-2129-44B0-8553-DA94BB55334D}" type="presParOf" srcId="{65C6901A-92A6-4A37-95A4-FD5D46D4C545}" destId="{F5E4BA2B-82BE-470F-891D-1D9D3EFCFAAB}" srcOrd="1" destOrd="0" presId="urn:microsoft.com/office/officeart/2018/2/layout/IconVerticalSolidList"/>
    <dgm:cxn modelId="{22B38981-DCEA-4FD9-94BB-1EAC4D4B998A}" type="presParOf" srcId="{65C6901A-92A6-4A37-95A4-FD5D46D4C545}" destId="{51A685D4-E124-45F3-81AC-BA653B131935}" srcOrd="2" destOrd="0" presId="urn:microsoft.com/office/officeart/2018/2/layout/IconVerticalSolidList"/>
    <dgm:cxn modelId="{B2B00EBA-81F7-412C-978F-DDBB73AD5D99}" type="presParOf" srcId="{65C6901A-92A6-4A37-95A4-FD5D46D4C545}" destId="{7E434B2A-11B6-4AC0-91C3-71462EAF9C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F57BF-2766-404D-98C4-332D43B7175C}">
      <dsp:nvSpPr>
        <dsp:cNvPr id="0" name=""/>
        <dsp:cNvSpPr/>
      </dsp:nvSpPr>
      <dsp:spPr>
        <a:xfrm>
          <a:off x="679050" y="311261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4CA45-EBDA-4BE5-ACFF-DF33CC108BA9}">
      <dsp:nvSpPr>
        <dsp:cNvPr id="0" name=""/>
        <dsp:cNvSpPr/>
      </dsp:nvSpPr>
      <dsp:spPr>
        <a:xfrm>
          <a:off x="1081237" y="71344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7DAED2-365D-45BF-A02E-E63903C66186}">
      <dsp:nvSpPr>
        <dsp:cNvPr id="0" name=""/>
        <dsp:cNvSpPr/>
      </dsp:nvSpPr>
      <dsp:spPr>
        <a:xfrm>
          <a:off x="75768" y="2786262"/>
          <a:ext cx="30937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ONT stands for </a:t>
          </a:r>
          <a:r>
            <a:rPr lang="en-US" sz="1600" b="1" kern="1200" dirty="0"/>
            <a:t>O</a:t>
          </a:r>
          <a:r>
            <a:rPr lang="en-US" sz="1600" kern="1200" dirty="0"/>
            <a:t>xford </a:t>
          </a:r>
          <a:r>
            <a:rPr lang="en-US" sz="1600" b="1" kern="1200" dirty="0"/>
            <a:t>N</a:t>
          </a:r>
          <a:r>
            <a:rPr lang="en-US" sz="1600" kern="1200" dirty="0"/>
            <a:t>anopore </a:t>
          </a:r>
          <a:r>
            <a:rPr lang="en-US" sz="1600" b="1" kern="1200" dirty="0"/>
            <a:t>T</a:t>
          </a:r>
          <a:r>
            <a:rPr lang="en-US" sz="1600" kern="1200" dirty="0"/>
            <a:t>echnologies</a:t>
          </a:r>
        </a:p>
      </dsp:txBody>
      <dsp:txXfrm>
        <a:off x="75768" y="2786262"/>
        <a:ext cx="3093750" cy="1260000"/>
      </dsp:txXfrm>
    </dsp:sp>
    <dsp:sp modelId="{91D62667-E72A-4848-8BD1-887998D1B79A}">
      <dsp:nvSpPr>
        <dsp:cNvPr id="0" name=""/>
        <dsp:cNvSpPr/>
      </dsp:nvSpPr>
      <dsp:spPr>
        <a:xfrm>
          <a:off x="4314206" y="311261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C91E0-3912-4EFE-9E6A-91089EC84131}">
      <dsp:nvSpPr>
        <dsp:cNvPr id="0" name=""/>
        <dsp:cNvSpPr/>
      </dsp:nvSpPr>
      <dsp:spPr>
        <a:xfrm>
          <a:off x="4716393" y="71344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AB0DA8-3577-4A8F-AE07-2FDEDD0AC889}">
      <dsp:nvSpPr>
        <dsp:cNvPr id="0" name=""/>
        <dsp:cNvSpPr/>
      </dsp:nvSpPr>
      <dsp:spPr>
        <a:xfrm>
          <a:off x="3710925" y="2786262"/>
          <a:ext cx="30937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ONT sequencers (such as the </a:t>
          </a:r>
          <a:r>
            <a:rPr lang="en-US" sz="1600" kern="1200" dirty="0" err="1"/>
            <a:t>MinION</a:t>
          </a:r>
          <a:r>
            <a:rPr lang="en-US" sz="1600" kern="1200" dirty="0"/>
            <a:t> MkD1) are not limited by a specific length: </a:t>
          </a:r>
          <a:r>
            <a:rPr lang="en-US" sz="1600" b="1" u="sng" kern="1200" dirty="0"/>
            <a:t>generate long-reads</a:t>
          </a:r>
          <a:r>
            <a:rPr lang="en-US" sz="1600" kern="1200" dirty="0"/>
            <a:t>, but can also do </a:t>
          </a:r>
          <a:r>
            <a:rPr lang="en-US" sz="1600" b="1" u="sng" kern="1200" dirty="0"/>
            <a:t>short</a:t>
          </a:r>
          <a:r>
            <a:rPr lang="en-US" sz="1600" kern="1200" dirty="0"/>
            <a:t>.</a:t>
          </a:r>
        </a:p>
      </dsp:txBody>
      <dsp:txXfrm>
        <a:off x="3710925" y="2786262"/>
        <a:ext cx="3093750" cy="1260000"/>
      </dsp:txXfrm>
    </dsp:sp>
    <dsp:sp modelId="{D88D95B7-ACF0-4ACB-8380-5EF872FE7943}">
      <dsp:nvSpPr>
        <dsp:cNvPr id="0" name=""/>
        <dsp:cNvSpPr/>
      </dsp:nvSpPr>
      <dsp:spPr>
        <a:xfrm>
          <a:off x="7949362" y="311261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11D19D-8587-4E14-8FF6-1B16732D6225}">
      <dsp:nvSpPr>
        <dsp:cNvPr id="0" name=""/>
        <dsp:cNvSpPr/>
      </dsp:nvSpPr>
      <dsp:spPr>
        <a:xfrm>
          <a:off x="8351550" y="713449"/>
          <a:ext cx="1082812" cy="1082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B4FEE-4966-46E9-AB3C-0075D80C51C9}">
      <dsp:nvSpPr>
        <dsp:cNvPr id="0" name=""/>
        <dsp:cNvSpPr/>
      </dsp:nvSpPr>
      <dsp:spPr>
        <a:xfrm>
          <a:off x="7346081" y="2786262"/>
          <a:ext cx="3093750" cy="126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 dirty="0"/>
            <a:t>Pipelines that process  ONT reads are often referred to as </a:t>
          </a:r>
          <a:r>
            <a:rPr lang="en-US" sz="1600" b="1" u="sng" kern="1200" dirty="0"/>
            <a:t>long-read pipelines</a:t>
          </a:r>
          <a:r>
            <a:rPr lang="en-US" sz="1600" kern="1200" dirty="0"/>
            <a:t>: these can be used to process other long-read datasets</a:t>
          </a:r>
        </a:p>
      </dsp:txBody>
      <dsp:txXfrm>
        <a:off x="7346081" y="2786262"/>
        <a:ext cx="3093750" cy="126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73AE32-A877-4B53-95C5-411AB35CC9C1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DF26D-AC03-4235-A2A3-3A9DCB91D4FC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6EA0FD-5D2B-4914-B5E2-2CEEA93C3F0D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u="sng" kern="1200"/>
            <a:t>Docker</a:t>
          </a:r>
          <a:r>
            <a:rPr lang="en-US" sz="2500" kern="1200"/>
            <a:t> is a platform that allows deployment of packages with applications and everything they need: </a:t>
          </a:r>
          <a:r>
            <a:rPr lang="en-US" sz="2500" b="1" u="sng" kern="1200"/>
            <a:t>containers</a:t>
          </a:r>
          <a:endParaRPr lang="en-US" sz="2500" kern="1200"/>
        </a:p>
      </dsp:txBody>
      <dsp:txXfrm>
        <a:off x="1437631" y="531"/>
        <a:ext cx="9077968" cy="1244702"/>
      </dsp:txXfrm>
    </dsp:sp>
    <dsp:sp modelId="{13809168-6647-48DE-A8D5-E0536A456449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576BB-1E44-4BD7-BBD0-56B1230F3C96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5A11F2-AD11-46CD-8866-DDE73C000456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Docker Desktop </a:t>
          </a:r>
          <a:r>
            <a:rPr lang="en-US" sz="2500" kern="1200"/>
            <a:t>is needed for Windows and Mac to use these containers, by creating a Linux Machine inside your PC. </a:t>
          </a:r>
        </a:p>
      </dsp:txBody>
      <dsp:txXfrm>
        <a:off x="1437631" y="1556410"/>
        <a:ext cx="9077968" cy="1244702"/>
      </dsp:txXfrm>
    </dsp:sp>
    <dsp:sp modelId="{74D007AE-5D5B-4FEC-8C3F-F3FA97BF6F84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E4BA2B-82BE-470F-891D-1D9D3EFCFAAB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34B2A-11B6-4AC0-91C3-71462EAF9C4A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allows access to library of pre-made containers, including many bioinformatics tools.  </a:t>
          </a:r>
        </a:p>
      </dsp:txBody>
      <dsp:txXfrm>
        <a:off x="1437631" y="3112289"/>
        <a:ext cx="9077968" cy="12447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AF4B7-4AD5-4B48-9CA7-C23C036075E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198509-3254-1042-9F9F-D67CCF7B9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6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8509-3254-1042-9F9F-D67CCF7B9CC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31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198509-3254-1042-9F9F-D67CCF7B9CC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951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77B08-DE3A-CA6C-A431-35F5974DB6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E28798-5FCD-B002-E098-48F9DE6A7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5EE0-D9DE-5720-A731-38F8199F8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BBEE6-1764-A490-08CC-0445DB9D5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B38C1-2542-FE7D-34CC-7BCCA670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52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1661-49D3-83DD-5B0B-E519B6129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D3EAE-BCF5-5E34-9F0D-80B70C225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41757-B938-7FBC-6CBF-A0B97312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4FF21-6BC2-7982-48BA-348FF7DC4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4648F-70B4-BEA4-32C5-70C249D8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65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A164-DAC5-1948-A396-74FBA006F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EB631-AA57-5ABB-3DDA-65B7E09F4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4F53D-9606-2D1C-9190-A93E25F5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4013F-5069-8080-1859-F53C4E27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95577-7FE4-CFE0-17B0-32915326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3FB2-04A5-8B4D-663F-562514F2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4D81C-0419-81D4-94BD-7A76B2EBA6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20864-2E84-4678-46F0-46CD5FC4A6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031F6-3E68-C7D9-B172-F4ADE3B51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60618-43ED-65E8-9305-598BD2C52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F440C-A471-5526-9FDB-6663DB36E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2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1CCB-3FF8-488E-0E6E-C0B36583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CF9A3-9E89-CB24-F863-5AEEC4E26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B0A583-EF1C-F39F-E0AD-8051F4538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DB08F5-74AD-B7D7-74F1-A74DF18FFB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105B61-2A71-F3B0-DC40-6FDF98EECD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963443-F777-09EE-8B72-0D536A84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96EFE-6C5C-3E63-76D7-6A9FC54E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24EDD-603D-5408-6802-FD1BDC0C8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05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D70F-CD68-012F-7AEC-C78C89D33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601B13-2DFB-275B-2BA0-5913EB8C6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D283FC-5178-A878-7256-8BCC59112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39325-2CAA-F83C-62E0-573F062C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11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305516-A84A-D4F6-41C4-C2D63FA95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5976B-E031-1A49-12D3-44C0A2345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EA4D2-A774-EFCA-A262-417BE374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835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868A-1387-9AC6-BE76-DB02DA38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BC672-F6F6-3D04-A9F0-ADDEA5092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15FDF-F1DA-0D26-77CA-BDC1B03A8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AAAA5-BB1F-0D83-C3FF-9C409AD2F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B2E75-BF4A-8756-CF23-19693B7B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B8828-4148-B7AD-AD97-216CE629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362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1D550-FC13-59BF-4F96-C44C0834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64DAE8-F39A-71EB-7554-A1209ADC9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BC4C2-DF8E-5EFC-42B0-184F30353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53212-9E5F-89AC-2E9B-AA94B73CB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636DF-B842-5BBE-D781-5C5BDBAC6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9118A-E9F9-5EBB-199E-E9F0C10E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29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E1A8-9F81-79D2-27B9-C9F56EDF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CEAF89-C1D2-7C92-4A2B-61FF4AD97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EE0D7-ED15-1F77-82CB-696B94B1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48512-6AE5-47EA-8865-15A982966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62CF6-21A7-BA3B-E526-83A4B44BA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2C04F0-A168-296D-6300-B16C610D6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579DC-E488-DD88-5BD4-2D25E056A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1FB18-73CC-14D8-0697-DD6AF5A5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58D3D-C18E-A2ED-F531-6D6D5D12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0705-AE96-526B-87B3-A18F45863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43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1648B-5CAA-61AD-601B-57A2FABAE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3CEA18-1FC0-22EC-B9C4-2F0C105E7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47769-38CB-754F-C14A-62B55B9DF5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1B64C-7667-BE42-B6AC-3C60874067FE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A1591-C0A6-809A-3A34-EBE338C10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BA30D-7186-5F91-40C4-7AE6CF477A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791ADB-E04E-E542-BB68-C6DC9A7CA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984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9BD28-B935-FD05-2E3A-DEE4ED0E1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chemeClr val="bg1"/>
                </a:solidFill>
              </a:rPr>
              <a:t>Workshop: </a:t>
            </a:r>
            <a:br>
              <a:rPr lang="en-US" sz="5400">
                <a:solidFill>
                  <a:schemeClr val="bg1"/>
                </a:solidFill>
              </a:rPr>
            </a:br>
            <a:r>
              <a:rPr lang="en-US" sz="5400">
                <a:solidFill>
                  <a:schemeClr val="bg1"/>
                </a:solidFill>
              </a:rPr>
              <a:t>ONT read metagenomics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3B6529-4E5C-B258-41F3-1662AC1A5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000">
                <a:solidFill>
                  <a:schemeClr val="bg1"/>
                </a:solidFill>
              </a:rPr>
              <a:t>Pedro Humberto Lebre</a:t>
            </a: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152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F0E51-030E-92B4-803E-6FBD443CC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What are ONT reads: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D3E2E1-868C-CF37-5F0C-755B7A71C7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585819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305353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779142-02A3-1B88-37E8-59EC723A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86E17A1-1801-63A4-6DD0-1F3C094A4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256310"/>
            <a:ext cx="11633200" cy="634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29530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BC360-C391-C73E-4509-DE19DA5CC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D43F9-E437-D804-6573-C4DFACDFC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b="1" dirty="0"/>
              <a:t>Why are we using Docker: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4B988F-681A-F506-43AF-3679F315AC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529427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63012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F3F38-789F-D8B0-DDDD-F69CE1E9A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8C3CE13-ECF9-7372-197B-CEAC13D4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83" y="220519"/>
            <a:ext cx="11764434" cy="641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3633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B2E22-6838-3A87-7AEE-AF3DBCC5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3542E-61EA-A398-565E-3B5DD60EC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428" y="85045"/>
            <a:ext cx="10515600" cy="999331"/>
          </a:xfrm>
        </p:spPr>
        <p:txBody>
          <a:bodyPr/>
          <a:lstStyle/>
          <a:p>
            <a:r>
              <a:rPr lang="en-US" b="1" dirty="0"/>
              <a:t>What we are going to run: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B5CAEDD-CF61-944E-5315-25E08C21DEF2}"/>
              </a:ext>
            </a:extLst>
          </p:cNvPr>
          <p:cNvSpPr/>
          <p:nvPr/>
        </p:nvSpPr>
        <p:spPr>
          <a:xfrm>
            <a:off x="479028" y="1431190"/>
            <a:ext cx="1447800" cy="1308100"/>
          </a:xfrm>
          <a:prstGeom prst="ellips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Mock 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CC53CC5-9987-1616-9AE4-E2D0A2F119F8}"/>
              </a:ext>
            </a:extLst>
          </p:cNvPr>
          <p:cNvSpPr/>
          <p:nvPr/>
        </p:nvSpPr>
        <p:spPr>
          <a:xfrm>
            <a:off x="3247628" y="1703446"/>
            <a:ext cx="1473200" cy="7747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18C000-D122-92B3-111F-156766F48E14}"/>
              </a:ext>
            </a:extLst>
          </p:cNvPr>
          <p:cNvSpPr/>
          <p:nvPr/>
        </p:nvSpPr>
        <p:spPr>
          <a:xfrm>
            <a:off x="6041628" y="1692334"/>
            <a:ext cx="1473200" cy="7747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Trimming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704007-C7B4-701D-160E-D4E83939F1CC}"/>
              </a:ext>
            </a:extLst>
          </p:cNvPr>
          <p:cNvSpPr/>
          <p:nvPr/>
        </p:nvSpPr>
        <p:spPr>
          <a:xfrm>
            <a:off x="6036072" y="3773546"/>
            <a:ext cx="1473200" cy="774700"/>
          </a:xfrm>
          <a:prstGeom prst="rect">
            <a:avLst/>
          </a:prstGeom>
          <a:solidFill>
            <a:schemeClr val="accent4">
              <a:lumMod val="75000"/>
              <a:alpha val="99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Taxonomy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CA82E1-F8B5-9997-F22F-FBC236D36F6C}"/>
              </a:ext>
            </a:extLst>
          </p:cNvPr>
          <p:cNvSpPr/>
          <p:nvPr/>
        </p:nvSpPr>
        <p:spPr>
          <a:xfrm>
            <a:off x="8824516" y="3773546"/>
            <a:ext cx="1473200" cy="774700"/>
          </a:xfrm>
          <a:prstGeom prst="rect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Assembly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4840F-8430-46C1-B748-00CBFBDED842}"/>
              </a:ext>
            </a:extLst>
          </p:cNvPr>
          <p:cNvSpPr/>
          <p:nvPr/>
        </p:nvSpPr>
        <p:spPr>
          <a:xfrm>
            <a:off x="8839200" y="5669021"/>
            <a:ext cx="1473200" cy="7747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Mapping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E35945D-9BA3-1EEF-8031-3B573159E34D}"/>
              </a:ext>
            </a:extLst>
          </p:cNvPr>
          <p:cNvCxnSpPr>
            <a:stCxn id="6" idx="6"/>
            <a:endCxn id="11" idx="1"/>
          </p:cNvCxnSpPr>
          <p:nvPr/>
        </p:nvCxnSpPr>
        <p:spPr>
          <a:xfrm>
            <a:off x="1926828" y="2085240"/>
            <a:ext cx="1320800" cy="5556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C42FF2F-5F1F-F9FA-6D33-7C2BAA9AF0FC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 flipV="1">
            <a:off x="4720828" y="2079684"/>
            <a:ext cx="1320800" cy="111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C951BD8-5FF8-5166-7EFE-052284766668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6772672" y="2467034"/>
            <a:ext cx="5556" cy="13065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CB3DEBD-66AB-F050-CE74-E815335C06B7}"/>
              </a:ext>
            </a:extLst>
          </p:cNvPr>
          <p:cNvCxnSpPr>
            <a:cxnSpLocks/>
          </p:cNvCxnSpPr>
          <p:nvPr/>
        </p:nvCxnSpPr>
        <p:spPr>
          <a:xfrm flipV="1">
            <a:off x="7518400" y="4160896"/>
            <a:ext cx="1320800" cy="1111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7B07D2-D25A-4700-1FC0-0F52BBB2D3C8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561116" y="4548246"/>
            <a:ext cx="14684" cy="112077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52BD1F72-02BC-8630-9599-8BCCFB952F4C}"/>
              </a:ext>
            </a:extLst>
          </p:cNvPr>
          <p:cNvCxnSpPr>
            <a:stCxn id="12" idx="0"/>
            <a:endCxn id="11" idx="0"/>
          </p:cNvCxnSpPr>
          <p:nvPr/>
        </p:nvCxnSpPr>
        <p:spPr>
          <a:xfrm rot="16200000" flipH="1" flipV="1">
            <a:off x="5375672" y="300890"/>
            <a:ext cx="11112" cy="2794000"/>
          </a:xfrm>
          <a:prstGeom prst="bentConnector3">
            <a:avLst>
              <a:gd name="adj1" fmla="val -4114471"/>
            </a:avLst>
          </a:prstGeom>
          <a:ln w="50800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Elbow Connector 32">
            <a:extLst>
              <a:ext uri="{FF2B5EF4-FFF2-40B4-BE49-F238E27FC236}">
                <a16:creationId xmlns:a16="http://schemas.microsoft.com/office/drawing/2014/main" id="{481C84DB-00B7-023B-4791-D5DB65E89FD3}"/>
              </a:ext>
            </a:extLst>
          </p:cNvPr>
          <p:cNvCxnSpPr>
            <a:cxnSpLocks/>
            <a:stCxn id="15" idx="3"/>
            <a:endCxn id="14" idx="3"/>
          </p:cNvCxnSpPr>
          <p:nvPr/>
        </p:nvCxnSpPr>
        <p:spPr>
          <a:xfrm flipH="1" flipV="1">
            <a:off x="10297716" y="4160896"/>
            <a:ext cx="14684" cy="1895475"/>
          </a:xfrm>
          <a:prstGeom prst="bentConnector3">
            <a:avLst>
              <a:gd name="adj1" fmla="val -3805503"/>
            </a:avLst>
          </a:prstGeom>
          <a:ln w="50800">
            <a:solidFill>
              <a:srgbClr val="00B05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76834E2-6C9E-ECD0-10D5-33E11C618981}"/>
              </a:ext>
            </a:extLst>
          </p:cNvPr>
          <p:cNvSpPr txBox="1"/>
          <p:nvPr/>
        </p:nvSpPr>
        <p:spPr>
          <a:xfrm>
            <a:off x="3355578" y="2554624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Nanoplot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0F1231C-5264-3E99-1E5B-349D1967A229}"/>
              </a:ext>
            </a:extLst>
          </p:cNvPr>
          <p:cNvSpPr txBox="1"/>
          <p:nvPr/>
        </p:nvSpPr>
        <p:spPr>
          <a:xfrm>
            <a:off x="7521972" y="1880860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Filtlong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316F52-E105-8F57-8741-7814E65A7C44}"/>
              </a:ext>
            </a:extLst>
          </p:cNvPr>
          <p:cNvSpPr txBox="1"/>
          <p:nvPr/>
        </p:nvSpPr>
        <p:spPr>
          <a:xfrm>
            <a:off x="10455672" y="6415146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Minimap2</a:t>
            </a:r>
          </a:p>
        </p:txBody>
      </p:sp>
      <p:pic>
        <p:nvPicPr>
          <p:cNvPr id="1026" name="Picture 2" descr="Snapshots of the summary report generated by NanoPlot. | Download  Scientific Diagram">
            <a:extLst>
              <a:ext uri="{FF2B5EF4-FFF2-40B4-BE49-F238E27FC236}">
                <a16:creationId xmlns:a16="http://schemas.microsoft.com/office/drawing/2014/main" id="{5BF6EEF1-7AB0-EDD3-6E11-9AFF72B6C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989" y="3000434"/>
            <a:ext cx="2022477" cy="1272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E7296C08-BCCE-6DAF-0EB0-2B0FB3CB7342}"/>
              </a:ext>
            </a:extLst>
          </p:cNvPr>
          <p:cNvSpPr txBox="1"/>
          <p:nvPr/>
        </p:nvSpPr>
        <p:spPr>
          <a:xfrm>
            <a:off x="174625" y="6443721"/>
            <a:ext cx="7427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https://github.com/pbixirao86/Long_read_metagenomics_tutorial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565B9E-ED81-97BE-90D5-6B840925CA66}"/>
              </a:ext>
            </a:extLst>
          </p:cNvPr>
          <p:cNvSpPr txBox="1"/>
          <p:nvPr/>
        </p:nvSpPr>
        <p:spPr>
          <a:xfrm>
            <a:off x="6649244" y="4779966"/>
            <a:ext cx="1257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Kraken2</a:t>
            </a:r>
          </a:p>
          <a:p>
            <a:pPr algn="ctr"/>
            <a:r>
              <a:rPr lang="en-US" b="1" dirty="0"/>
              <a:t>Krona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AE24ED-1422-DF58-53DA-EA5B6A25A9FB}"/>
              </a:ext>
            </a:extLst>
          </p:cNvPr>
          <p:cNvSpPr txBox="1"/>
          <p:nvPr/>
        </p:nvSpPr>
        <p:spPr>
          <a:xfrm>
            <a:off x="8932466" y="3365468"/>
            <a:ext cx="1257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/>
              <a:t>MetaFlye</a:t>
            </a:r>
            <a:endParaRPr lang="en-US" b="1" dirty="0"/>
          </a:p>
        </p:txBody>
      </p:sp>
      <p:pic>
        <p:nvPicPr>
          <p:cNvPr id="1030" name="Picture 6" descr="Assembly of long, error-prone reads using repeat graphs | Nature  Biotechnology">
            <a:extLst>
              <a:ext uri="{FF2B5EF4-FFF2-40B4-BE49-F238E27FC236}">
                <a16:creationId xmlns:a16="http://schemas.microsoft.com/office/drawing/2014/main" id="{BC9EF640-48C2-E6AC-3B94-20F1AFBD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622" y="1832891"/>
            <a:ext cx="2332013" cy="144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008877F8-FAFA-D363-A340-55E0521C5D5B}"/>
              </a:ext>
            </a:extLst>
          </p:cNvPr>
          <p:cNvSpPr txBox="1"/>
          <p:nvPr/>
        </p:nvSpPr>
        <p:spPr>
          <a:xfrm>
            <a:off x="2437211" y="5573190"/>
            <a:ext cx="1614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Who is there?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9748BE-20B7-3E79-BB57-536ADDA8A635}"/>
              </a:ext>
            </a:extLst>
          </p:cNvPr>
          <p:cNvSpPr txBox="1"/>
          <p:nvPr/>
        </p:nvSpPr>
        <p:spPr>
          <a:xfrm>
            <a:off x="9968893" y="611452"/>
            <a:ext cx="1614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What are they doing?</a:t>
            </a:r>
          </a:p>
        </p:txBody>
      </p: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46176900-38FC-00CB-CC61-7C78A079296A}"/>
              </a:ext>
            </a:extLst>
          </p:cNvPr>
          <p:cNvCxnSpPr>
            <a:cxnSpLocks/>
            <a:stCxn id="13" idx="2"/>
            <a:endCxn id="44" idx="3"/>
          </p:cNvCxnSpPr>
          <p:nvPr/>
        </p:nvCxnSpPr>
        <p:spPr>
          <a:xfrm rot="5400000">
            <a:off x="4807181" y="3792365"/>
            <a:ext cx="1209610" cy="2721372"/>
          </a:xfrm>
          <a:prstGeom prst="bentConnector2">
            <a:avLst/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Krona plot of identified bacteria, archaea and viruses. The ...">
            <a:extLst>
              <a:ext uri="{FF2B5EF4-FFF2-40B4-BE49-F238E27FC236}">
                <a16:creationId xmlns:a16="http://schemas.microsoft.com/office/drawing/2014/main" id="{218C867E-A3CA-DFA1-5D71-63C7F3BD8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4716975"/>
            <a:ext cx="1473200" cy="1667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Elbow Connector 49">
            <a:extLst>
              <a:ext uri="{FF2B5EF4-FFF2-40B4-BE49-F238E27FC236}">
                <a16:creationId xmlns:a16="http://schemas.microsoft.com/office/drawing/2014/main" id="{291693EC-FE63-6988-6CC6-25A7D9EDB778}"/>
              </a:ext>
            </a:extLst>
          </p:cNvPr>
          <p:cNvCxnSpPr>
            <a:cxnSpLocks/>
            <a:stCxn id="43" idx="0"/>
            <a:endCxn id="45" idx="2"/>
          </p:cNvCxnSpPr>
          <p:nvPr/>
        </p:nvCxnSpPr>
        <p:spPr>
          <a:xfrm rot="5400000" flipH="1" flipV="1">
            <a:off x="9114685" y="1704215"/>
            <a:ext cx="2107685" cy="1214822"/>
          </a:xfrm>
          <a:prstGeom prst="bentConnector3">
            <a:avLst>
              <a:gd name="adj1" fmla="val 50000"/>
            </a:avLst>
          </a:prstGeom>
          <a:ln w="50800">
            <a:solidFill>
              <a:schemeClr val="tx1">
                <a:lumMod val="50000"/>
                <a:lumOff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329371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8DDD8-30FE-D37E-072C-8C5ACDC59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F98F79A4-A6C7-4101-B1E9-27E05CB7C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31CE7A08-2184-4B99-ABC0-B40CD1D3F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871489" cy="4096327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F989E9-DCAC-81C6-C2AA-66F1438C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900" y="3642627"/>
            <a:ext cx="3826286" cy="321537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Rules for the Workshop: </a:t>
            </a: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9AFCB35-9C04-4524-A0B1-57FF6865D0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79558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11AD2AD-0BA0-4DD3-8EEA-84686A0E7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9293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E5C5460-229E-46C8-A712-CC3179854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552FC29-9118-466F-940E-80C84EFD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00654" y="4275786"/>
            <a:ext cx="2691346" cy="2582214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D42F77D-9141-A479-81A3-C1D2874F6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6895" y="330994"/>
            <a:ext cx="5217173" cy="4351338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Type the command lines if you can on your Terminal/</a:t>
            </a:r>
            <a:r>
              <a:rPr lang="en-US" sz="2600" dirty="0" err="1">
                <a:solidFill>
                  <a:schemeClr val="bg1"/>
                </a:solidFill>
              </a:rPr>
              <a:t>Powershell</a:t>
            </a:r>
            <a:endParaRPr lang="en-US" sz="2600" dirty="0">
              <a:solidFill>
                <a:schemeClr val="bg1"/>
              </a:solidFill>
            </a:endParaRP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If you have a question/ problem, please raise your hand on </a:t>
            </a:r>
            <a:r>
              <a:rPr lang="en-US" sz="2600" b="1" dirty="0">
                <a:solidFill>
                  <a:schemeClr val="bg1"/>
                </a:solidFill>
              </a:rPr>
              <a:t>Teams</a:t>
            </a:r>
          </a:p>
          <a:p>
            <a:endParaRPr lang="en-US" sz="26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The outputs for each step are available in the </a:t>
            </a:r>
            <a:r>
              <a:rPr lang="en-US" sz="2600" b="1" dirty="0" err="1">
                <a:solidFill>
                  <a:schemeClr val="bg1"/>
                </a:solidFill>
              </a:rPr>
              <a:t>Github</a:t>
            </a:r>
            <a:r>
              <a:rPr lang="en-US" sz="2600" dirty="0">
                <a:solidFill>
                  <a:schemeClr val="bg1"/>
                </a:solidFill>
              </a:rPr>
              <a:t> link</a:t>
            </a:r>
          </a:p>
        </p:txBody>
      </p:sp>
      <p:grpSp>
        <p:nvGrpSpPr>
          <p:cNvPr id="54" name="Graphic 185">
            <a:extLst>
              <a:ext uri="{FF2B5EF4-FFF2-40B4-BE49-F238E27FC236}">
                <a16:creationId xmlns:a16="http://schemas.microsoft.com/office/drawing/2014/main" id="{0C156BF8-7FF7-440F-BE2B-417DFFE8B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7067280-C3E7-4DF6-A345-B9FEF6EF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78365A8-666B-4417-9D3C-554E6E6B2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E71CAAFA-0A31-4308-AB9F-B1C84ABDF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96AB1D25-144D-4BB4-A45C-60B8A094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69F0FB4-779A-48FC-AC33-784F177C9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6367448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215</Words>
  <Application>Microsoft Macintosh PowerPoint</Application>
  <PresentationFormat>Widescreen</PresentationFormat>
  <Paragraphs>34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Workshop:  ONT read metagenomics</vt:lpstr>
      <vt:lpstr>What are ONT reads:</vt:lpstr>
      <vt:lpstr>PowerPoint Presentation</vt:lpstr>
      <vt:lpstr>Why are we using Docker:</vt:lpstr>
      <vt:lpstr>PowerPoint Presentation</vt:lpstr>
      <vt:lpstr>What we are going to run:</vt:lpstr>
      <vt:lpstr>Rules for the Workshop: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Lebre</dc:creator>
  <cp:lastModifiedBy>Pedro Lebre</cp:lastModifiedBy>
  <cp:revision>2</cp:revision>
  <dcterms:created xsi:type="dcterms:W3CDTF">2026-05-13T12:05:51Z</dcterms:created>
  <dcterms:modified xsi:type="dcterms:W3CDTF">2026-05-13T13:26:24Z</dcterms:modified>
</cp:coreProperties>
</file>